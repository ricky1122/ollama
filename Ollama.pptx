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0" r:id="rId1"/>
  </p:sldMasterIdLst>
  <p:sldIdLst>
    <p:sldId id="294" r:id="rId2"/>
    <p:sldId id="357" r:id="rId3"/>
    <p:sldId id="397" r:id="rId4"/>
    <p:sldId id="398" r:id="rId5"/>
    <p:sldId id="403" r:id="rId6"/>
    <p:sldId id="399" r:id="rId7"/>
    <p:sldId id="401" r:id="rId8"/>
    <p:sldId id="416" r:id="rId9"/>
    <p:sldId id="337" r:id="rId10"/>
    <p:sldId id="404" r:id="rId11"/>
    <p:sldId id="405" r:id="rId12"/>
    <p:sldId id="385" r:id="rId13"/>
    <p:sldId id="406" r:id="rId14"/>
    <p:sldId id="407" r:id="rId15"/>
    <p:sldId id="409" r:id="rId16"/>
    <p:sldId id="410" r:id="rId17"/>
    <p:sldId id="387" r:id="rId18"/>
    <p:sldId id="390" r:id="rId19"/>
    <p:sldId id="411" r:id="rId20"/>
    <p:sldId id="392" r:id="rId21"/>
    <p:sldId id="393" r:id="rId22"/>
    <p:sldId id="391" r:id="rId23"/>
    <p:sldId id="412" r:id="rId24"/>
    <p:sldId id="394" r:id="rId25"/>
    <p:sldId id="386" r:id="rId26"/>
    <p:sldId id="388" r:id="rId27"/>
    <p:sldId id="414" r:id="rId28"/>
    <p:sldId id="415" r:id="rId29"/>
    <p:sldId id="413" r:id="rId30"/>
    <p:sldId id="417" r:id="rId31"/>
    <p:sldId id="395" r:id="rId32"/>
    <p:sldId id="418" r:id="rId33"/>
    <p:sldId id="423" r:id="rId34"/>
    <p:sldId id="384" r:id="rId35"/>
    <p:sldId id="258" r:id="rId36"/>
  </p:sldIdLst>
  <p:sldSz cx="12192000" cy="6429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86885" autoAdjust="0"/>
  </p:normalViewPr>
  <p:slideViewPr>
    <p:cSldViewPr snapToGrid="0">
      <p:cViewPr varScale="1">
        <p:scale>
          <a:sx n="106" d="100"/>
          <a:sy n="106" d="100"/>
        </p:scale>
        <p:origin x="9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52215"/>
            <a:ext cx="9144000" cy="2238375"/>
          </a:xfrm>
        </p:spPr>
        <p:txBody>
          <a:bodyPr anchor="b"/>
          <a:lstStyle>
            <a:lvl1pPr algn="ctr">
              <a:defRPr sz="56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76911"/>
            <a:ext cx="9144000" cy="1552277"/>
          </a:xfrm>
        </p:spPr>
        <p:txBody>
          <a:bodyPr/>
          <a:lstStyle>
            <a:lvl1pPr marL="0" indent="0" algn="ctr">
              <a:buNone/>
              <a:defRPr sz="2250"/>
            </a:lvl1pPr>
            <a:lvl2pPr marL="428625" indent="0" algn="ctr">
              <a:buNone/>
              <a:defRPr sz="1875"/>
            </a:lvl2pPr>
            <a:lvl3pPr marL="857250" indent="0" algn="ctr">
              <a:buNone/>
              <a:defRPr sz="1688"/>
            </a:lvl3pPr>
            <a:lvl4pPr marL="1285875" indent="0" algn="ctr">
              <a:buNone/>
              <a:defRPr sz="1500"/>
            </a:lvl4pPr>
            <a:lvl5pPr marL="1714500" indent="0" algn="ctr">
              <a:buNone/>
              <a:defRPr sz="1500"/>
            </a:lvl5pPr>
            <a:lvl6pPr marL="2143125" indent="0" algn="ctr">
              <a:buNone/>
              <a:defRPr sz="1500"/>
            </a:lvl6pPr>
            <a:lvl7pPr marL="2571750" indent="0" algn="ctr">
              <a:buNone/>
              <a:defRPr sz="1500"/>
            </a:lvl7pPr>
            <a:lvl8pPr marL="3000375" indent="0" algn="ctr">
              <a:buNone/>
              <a:defRPr sz="1500"/>
            </a:lvl8pPr>
            <a:lvl9pPr marL="34290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43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19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02880"/>
            <a:ext cx="10515600" cy="2674441"/>
          </a:xfrm>
        </p:spPr>
        <p:txBody>
          <a:bodyPr anchor="b"/>
          <a:lstStyle>
            <a:lvl1pPr>
              <a:defRPr sz="56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302622"/>
            <a:ext cx="10515600" cy="1406425"/>
          </a:xfrm>
        </p:spPr>
        <p:txBody>
          <a:bodyPr/>
          <a:lstStyle>
            <a:lvl1pPr marL="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1pPr>
            <a:lvl2pPr marL="428625" indent="0">
              <a:buNone/>
              <a:defRPr sz="1875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86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11524"/>
            <a:ext cx="5181600" cy="4079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11524"/>
            <a:ext cx="5181600" cy="4079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42305"/>
            <a:ext cx="10515600" cy="12427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76090"/>
            <a:ext cx="5157787" cy="772418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348508"/>
            <a:ext cx="5157787" cy="34543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76090"/>
            <a:ext cx="5183188" cy="772418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48508"/>
            <a:ext cx="5183188" cy="34543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7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00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92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28625"/>
            <a:ext cx="3932237" cy="150018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25712"/>
            <a:ext cx="6172200" cy="4569023"/>
          </a:xfrm>
        </p:spPr>
        <p:txBody>
          <a:bodyPr/>
          <a:lstStyle>
            <a:lvl1pPr>
              <a:defRPr sz="3000"/>
            </a:lvl1pPr>
            <a:lvl2pPr>
              <a:defRPr sz="2625"/>
            </a:lvl2pPr>
            <a:lvl3pPr>
              <a:defRPr sz="2250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28812"/>
            <a:ext cx="3932237" cy="3573364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70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28625"/>
            <a:ext cx="3932237" cy="150018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25712"/>
            <a:ext cx="6172200" cy="4569023"/>
          </a:xfrm>
        </p:spPr>
        <p:txBody>
          <a:bodyPr anchor="t"/>
          <a:lstStyle>
            <a:lvl1pPr marL="0" indent="0">
              <a:buNone/>
              <a:defRPr sz="3000"/>
            </a:lvl1pPr>
            <a:lvl2pPr marL="428625" indent="0">
              <a:buNone/>
              <a:defRPr sz="2625"/>
            </a:lvl2pPr>
            <a:lvl3pPr marL="857250" indent="0">
              <a:buNone/>
              <a:defRPr sz="2250"/>
            </a:lvl3pPr>
            <a:lvl4pPr marL="1285875" indent="0">
              <a:buNone/>
              <a:defRPr sz="1875"/>
            </a:lvl4pPr>
            <a:lvl5pPr marL="1714500" indent="0">
              <a:buNone/>
              <a:defRPr sz="1875"/>
            </a:lvl5pPr>
            <a:lvl6pPr marL="2143125" indent="0">
              <a:buNone/>
              <a:defRPr sz="1875"/>
            </a:lvl6pPr>
            <a:lvl7pPr marL="2571750" indent="0">
              <a:buNone/>
              <a:defRPr sz="1875"/>
            </a:lvl7pPr>
            <a:lvl8pPr marL="3000375" indent="0">
              <a:buNone/>
              <a:defRPr sz="1875"/>
            </a:lvl8pPr>
            <a:lvl9pPr marL="3429000" indent="0">
              <a:buNone/>
              <a:defRPr sz="18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28812"/>
            <a:ext cx="3932237" cy="3573364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8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58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42305"/>
            <a:ext cx="2628900" cy="5448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42305"/>
            <a:ext cx="7734300" cy="5448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291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42305"/>
            <a:ext cx="10515600" cy="1242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11524"/>
            <a:ext cx="10515600" cy="4079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959078"/>
            <a:ext cx="27432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B48B5-ADDB-448C-98FC-F6E4F92A991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959078"/>
            <a:ext cx="41148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959078"/>
            <a:ext cx="27432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CDD7A-C21D-4655-AB16-6F88B6C7D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57250" rtl="0" eaLnBrk="1" latinLnBrk="0" hangingPunct="1">
        <a:lnSpc>
          <a:spcPct val="90000"/>
        </a:lnSpc>
        <a:spcBef>
          <a:spcPct val="0"/>
        </a:spcBef>
        <a:buNone/>
        <a:defRPr sz="4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85725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1pPr>
      <a:lvl2pPr marL="6429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715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3pPr>
      <a:lvl4pPr marL="15001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3574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7860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2146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6433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llama.com/quickstar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840F83-1E85-6B30-0C94-3FE3D42E272B}"/>
              </a:ext>
            </a:extLst>
          </p:cNvPr>
          <p:cNvSpPr txBox="1"/>
          <p:nvPr/>
        </p:nvSpPr>
        <p:spPr>
          <a:xfrm>
            <a:off x="0" y="1795549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Cambria" panose="02040503050406030204" pitchFamily="18" charset="0"/>
                <a:ea typeface="Cambria" panose="02040503050406030204" pitchFamily="18" charset="0"/>
              </a:rPr>
              <a:t>Application of Generative AI in Healthcare: Through </a:t>
            </a:r>
            <a:r>
              <a:rPr lang="en-US" sz="4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Ollama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0F49B9-ED12-8489-49B9-20583B589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097" y="3741532"/>
            <a:ext cx="41195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b="1" kern="0" dirty="0">
                <a:solidFill>
                  <a:srgbClr val="252595"/>
                </a:solidFill>
                <a:cs typeface="Arial" charset="0"/>
              </a:rPr>
              <a:t>Dr. </a:t>
            </a:r>
            <a:r>
              <a:rPr lang="en-US" sz="2000" b="1" kern="0" dirty="0" err="1" smtClean="0">
                <a:solidFill>
                  <a:srgbClr val="252595"/>
                </a:solidFill>
                <a:cs typeface="Arial" charset="0"/>
              </a:rPr>
              <a:t>Satendra</a:t>
            </a:r>
            <a:r>
              <a:rPr lang="en-US" sz="2000" b="1" kern="0" dirty="0" smtClean="0">
                <a:solidFill>
                  <a:srgbClr val="252595"/>
                </a:solidFill>
                <a:cs typeface="Arial" charset="0"/>
              </a:rPr>
              <a:t> Kumar,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b="1" kern="0" dirty="0" smtClean="0">
                <a:solidFill>
                  <a:srgbClr val="252595"/>
                </a:solidFill>
                <a:cs typeface="Arial" charset="0"/>
              </a:rPr>
              <a:t>Assistant </a:t>
            </a:r>
            <a:r>
              <a:rPr lang="en-US" sz="2000" b="1" kern="0" dirty="0">
                <a:solidFill>
                  <a:srgbClr val="252595"/>
                </a:solidFill>
                <a:cs typeface="Arial" charset="0"/>
              </a:rPr>
              <a:t>Professor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000" b="1" kern="0" dirty="0">
                <a:solidFill>
                  <a:srgbClr val="000000"/>
                </a:solidFill>
                <a:cs typeface="Arial" charset="0"/>
              </a:rPr>
              <a:t>Dept. of Computer Science &amp; Engg.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IN" sz="2000" b="1" kern="0" dirty="0">
                <a:solidFill>
                  <a:srgbClr val="000000"/>
                </a:solidFill>
                <a:cs typeface="Arial" charset="0"/>
              </a:rPr>
              <a:t>Indian Institute of Technology </a:t>
            </a:r>
            <a:r>
              <a:rPr lang="en-IN" sz="2000" b="1" kern="0" dirty="0" smtClean="0">
                <a:solidFill>
                  <a:srgbClr val="000000"/>
                </a:solidFill>
                <a:cs typeface="Arial" charset="0"/>
              </a:rPr>
              <a:t>Patna</a:t>
            </a:r>
            <a:endParaRPr lang="en-US" sz="2000" b="1" kern="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BA95426-7169-06F4-4C80-08E41196A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2644" y="3741532"/>
            <a:ext cx="1367971" cy="149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769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 smtClean="0"/>
              <a:t>Content: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Generative AI can understand, summarize, generate, and organize healthcare information.</a:t>
            </a:r>
          </a:p>
          <a:p>
            <a:r>
              <a:rPr lang="en-US" sz="2800" dirty="0"/>
              <a:t>Generative AI </a:t>
            </a:r>
            <a:r>
              <a:rPr lang="en-US" sz="2800" dirty="0" smtClean="0"/>
              <a:t>can </a:t>
            </a:r>
            <a:r>
              <a:rPr lang="en-US" sz="2800" dirty="0"/>
              <a:t>work </a:t>
            </a:r>
            <a:r>
              <a:rPr lang="en-US" sz="2800" dirty="0" smtClean="0"/>
              <a:t>with: </a:t>
            </a:r>
          </a:p>
          <a:p>
            <a:pPr lvl="1"/>
            <a:r>
              <a:rPr lang="en-US" sz="2425" dirty="0" smtClean="0"/>
              <a:t>Clinical </a:t>
            </a:r>
            <a:r>
              <a:rPr lang="en-US" sz="2425" dirty="0"/>
              <a:t>notes</a:t>
            </a:r>
          </a:p>
          <a:p>
            <a:pPr lvl="1"/>
            <a:r>
              <a:rPr lang="en-US" sz="2425" dirty="0" smtClean="0"/>
              <a:t>Medical </a:t>
            </a:r>
            <a:r>
              <a:rPr lang="en-US" sz="2425" dirty="0"/>
              <a:t>reports</a:t>
            </a:r>
          </a:p>
          <a:p>
            <a:pPr lvl="1"/>
            <a:r>
              <a:rPr lang="en-US" sz="2425" dirty="0" smtClean="0"/>
              <a:t>Research </a:t>
            </a:r>
            <a:r>
              <a:rPr lang="en-US" sz="2425" dirty="0"/>
              <a:t>literature</a:t>
            </a:r>
          </a:p>
          <a:p>
            <a:pPr lvl="1"/>
            <a:r>
              <a:rPr lang="en-US" sz="2425" dirty="0" smtClean="0"/>
              <a:t>Patient </a:t>
            </a:r>
            <a:r>
              <a:rPr lang="en-US" sz="2425" dirty="0"/>
              <a:t>questions</a:t>
            </a:r>
          </a:p>
          <a:p>
            <a:pPr lvl="1"/>
            <a:r>
              <a:rPr lang="en-US" sz="2425" dirty="0" smtClean="0"/>
              <a:t>Hospital </a:t>
            </a:r>
            <a:r>
              <a:rPr lang="en-US" sz="2425" dirty="0"/>
              <a:t>documentation</a:t>
            </a:r>
          </a:p>
          <a:p>
            <a:endParaRPr lang="en-US" sz="2800" dirty="0"/>
          </a:p>
          <a:p>
            <a:r>
              <a:rPr lang="en-US" sz="2800" dirty="0" err="1"/>
              <a:t>Ollama</a:t>
            </a:r>
            <a:r>
              <a:rPr lang="en-US" sz="2800" dirty="0"/>
              <a:t> allows us to run many AI models locally on our own computer.</a:t>
            </a:r>
          </a:p>
          <a:p>
            <a:r>
              <a:rPr lang="en-US" sz="2800" dirty="0"/>
              <a:t>Today we will move from concept → healthcare problem → local AI → working demo.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6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Where generative AI fits in </a:t>
            </a:r>
            <a:r>
              <a:rPr lang="en-US" sz="4000" dirty="0" smtClean="0"/>
              <a:t>healthcare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Clinical </a:t>
            </a:r>
            <a:r>
              <a:rPr lang="en-US" sz="2800" dirty="0" smtClean="0"/>
              <a:t>support : summarize</a:t>
            </a:r>
            <a:r>
              <a:rPr lang="en-US" sz="2800" dirty="0"/>
              <a:t>, explain, draft, differential reasoning </a:t>
            </a:r>
            <a:r>
              <a:rPr lang="en-US" sz="2800" dirty="0" smtClean="0"/>
              <a:t>support</a:t>
            </a:r>
          </a:p>
          <a:p>
            <a:r>
              <a:rPr lang="en-US" sz="2800" dirty="0" smtClean="0"/>
              <a:t>Administration: </a:t>
            </a:r>
            <a:r>
              <a:rPr lang="en-US" sz="2800" dirty="0"/>
              <a:t>letters, discharge summaries, coding support, SOP drafting</a:t>
            </a:r>
          </a:p>
          <a:p>
            <a:r>
              <a:rPr lang="en-US" sz="2800" dirty="0" smtClean="0"/>
              <a:t>Research: </a:t>
            </a:r>
            <a:r>
              <a:rPr lang="en-US" sz="2800" dirty="0"/>
              <a:t>literature triage, protocol drafting, molecule hypothesis generation</a:t>
            </a:r>
          </a:p>
          <a:p>
            <a:r>
              <a:rPr lang="en-US" sz="2800" dirty="0" smtClean="0"/>
              <a:t>Patient-facing: </a:t>
            </a:r>
            <a:r>
              <a:rPr lang="en-US" sz="2800" dirty="0"/>
              <a:t>education, language simplification, symptom </a:t>
            </a:r>
            <a:r>
              <a:rPr lang="en-US" sz="2800" dirty="0" smtClean="0"/>
              <a:t>navigation</a:t>
            </a:r>
            <a:endParaRPr lang="en-US" sz="2800" dirty="0"/>
          </a:p>
          <a:p>
            <a:endParaRPr lang="en-US" sz="2800" dirty="0"/>
          </a:p>
          <a:p>
            <a:pPr lvl="1"/>
            <a:endParaRPr lang="en-US" sz="2425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83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Why Generative AI Matters Now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Traditional healthcare AI mainly performs:</a:t>
            </a:r>
          </a:p>
          <a:p>
            <a:r>
              <a:rPr lang="en-US" sz="2800" dirty="0"/>
              <a:t>Input → Prediction</a:t>
            </a:r>
          </a:p>
          <a:p>
            <a:r>
              <a:rPr lang="en-US" sz="2800" dirty="0"/>
              <a:t>Example:</a:t>
            </a:r>
          </a:p>
          <a:p>
            <a:pPr marL="428625" lvl="1" indent="0">
              <a:buNone/>
            </a:pPr>
            <a:r>
              <a:rPr lang="en-US" sz="2425" dirty="0"/>
              <a:t>ECG → AI Model → Normal / Abnormal</a:t>
            </a:r>
          </a:p>
          <a:p>
            <a:r>
              <a:rPr lang="en-US" sz="2800" dirty="0"/>
              <a:t>Generative AI can perform:</a:t>
            </a:r>
          </a:p>
          <a:p>
            <a:pPr marL="428625" lvl="1" indent="0">
              <a:buNone/>
            </a:pPr>
            <a:r>
              <a:rPr lang="en-US" sz="2425" dirty="0"/>
              <a:t>Input + Context → New Content / Explanation / Summary / Response</a:t>
            </a:r>
          </a:p>
          <a:p>
            <a:r>
              <a:rPr lang="en-US" sz="2800" dirty="0"/>
              <a:t>Example:</a:t>
            </a:r>
          </a:p>
          <a:p>
            <a:pPr marL="428625" lvl="1" indent="0">
              <a:buNone/>
            </a:pPr>
            <a:r>
              <a:rPr lang="en-US" sz="2425" dirty="0"/>
              <a:t>Medical Record + Question → LLM → Structured Clinical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94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63" y="215556"/>
            <a:ext cx="9413669" cy="5298004"/>
          </a:xfrm>
        </p:spPr>
      </p:pic>
    </p:spTree>
    <p:extLst>
      <p:ext uri="{BB962C8B-B14F-4D97-AF65-F5344CB8AC3E}">
        <p14:creationId xmlns:p14="http://schemas.microsoft.com/office/powerpoint/2010/main" val="143622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Why Generative AI Matters Now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Generative AI can therefore support:</a:t>
            </a:r>
          </a:p>
          <a:p>
            <a:pPr lvl="1"/>
            <a:r>
              <a:rPr lang="en-US" sz="2425" dirty="0" smtClean="0"/>
              <a:t>Information </a:t>
            </a:r>
            <a:r>
              <a:rPr lang="en-US" sz="2425" dirty="0"/>
              <a:t>extraction</a:t>
            </a:r>
          </a:p>
          <a:p>
            <a:pPr lvl="1"/>
            <a:r>
              <a:rPr lang="en-US" sz="2425" dirty="0" smtClean="0"/>
              <a:t>Question </a:t>
            </a:r>
            <a:r>
              <a:rPr lang="en-US" sz="2425" dirty="0"/>
              <a:t>answering</a:t>
            </a:r>
          </a:p>
          <a:p>
            <a:pPr lvl="1"/>
            <a:r>
              <a:rPr lang="en-US" sz="2425" dirty="0" smtClean="0"/>
              <a:t>Medical </a:t>
            </a:r>
            <a:r>
              <a:rPr lang="en-US" sz="2425" dirty="0"/>
              <a:t>documentation</a:t>
            </a:r>
          </a:p>
          <a:p>
            <a:pPr lvl="1"/>
            <a:r>
              <a:rPr lang="en-US" sz="2425" dirty="0" smtClean="0"/>
              <a:t>Report </a:t>
            </a:r>
            <a:r>
              <a:rPr lang="en-US" sz="2425" dirty="0"/>
              <a:t>summarization</a:t>
            </a:r>
          </a:p>
          <a:p>
            <a:pPr lvl="1"/>
            <a:r>
              <a:rPr lang="en-US" sz="2425" dirty="0" smtClean="0"/>
              <a:t>Patient </a:t>
            </a:r>
            <a:r>
              <a:rPr lang="en-US" sz="2425" dirty="0"/>
              <a:t>communication</a:t>
            </a:r>
          </a:p>
          <a:p>
            <a:pPr lvl="1"/>
            <a:r>
              <a:rPr lang="en-US" sz="2425" dirty="0" smtClean="0"/>
              <a:t>Research </a:t>
            </a:r>
            <a:r>
              <a:rPr lang="en-US" sz="2425" dirty="0"/>
              <a:t>assistance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9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6718" y="-38948"/>
            <a:ext cx="10515600" cy="1242715"/>
          </a:xfrm>
        </p:spPr>
        <p:txBody>
          <a:bodyPr/>
          <a:lstStyle/>
          <a:p>
            <a:r>
              <a:rPr lang="en-IN" sz="4000" dirty="0"/>
              <a:t>The challenge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267026"/>
            <a:ext cx="10515600" cy="40793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 smtClean="0"/>
              <a:t>For doctors </a:t>
            </a:r>
            <a:r>
              <a:rPr lang="en-US" sz="2800" dirty="0"/>
              <a:t>and researchers </a:t>
            </a:r>
            <a:r>
              <a:rPr lang="en-US" sz="2800" dirty="0" smtClean="0"/>
              <a:t>:</a:t>
            </a:r>
          </a:p>
          <a:p>
            <a:pPr marL="942975" lvl="1" indent="-514350">
              <a:buFont typeface="+mj-lt"/>
              <a:buAutoNum type="arabicPeriod"/>
            </a:pPr>
            <a:r>
              <a:rPr lang="en-US" sz="2425" dirty="0" smtClean="0"/>
              <a:t>Large </a:t>
            </a:r>
            <a:r>
              <a:rPr lang="en-US" sz="2425" dirty="0"/>
              <a:t>Amount of Medical Data</a:t>
            </a:r>
          </a:p>
          <a:p>
            <a:pPr marL="942975" lvl="1" indent="-514350">
              <a:buFont typeface="+mj-lt"/>
              <a:buAutoNum type="arabicPeriod"/>
            </a:pPr>
            <a:r>
              <a:rPr lang="en-US" sz="2425" dirty="0"/>
              <a:t>Useful Information</a:t>
            </a:r>
          </a:p>
          <a:p>
            <a:pPr marL="942975" lvl="1" indent="-514350">
              <a:buFont typeface="+mj-lt"/>
              <a:buAutoNum type="arabicPeriod"/>
            </a:pPr>
            <a:r>
              <a:rPr lang="en-US" sz="2425" dirty="0"/>
              <a:t>Clinical Knowledge</a:t>
            </a:r>
          </a:p>
          <a:p>
            <a:pPr marL="942975" lvl="1" indent="-514350">
              <a:buFont typeface="+mj-lt"/>
              <a:buAutoNum type="arabicPeriod"/>
            </a:pPr>
            <a:r>
              <a:rPr lang="en-US" sz="2425" dirty="0" smtClean="0"/>
              <a:t>Decision</a:t>
            </a:r>
          </a:p>
          <a:p>
            <a:pPr marL="0" indent="0">
              <a:buNone/>
            </a:pPr>
            <a:r>
              <a:rPr lang="en-US" sz="2800" dirty="0"/>
              <a:t>Role of Generative AI</a:t>
            </a:r>
          </a:p>
          <a:p>
            <a:pPr marL="428625" lvl="1" indent="0">
              <a:buNone/>
            </a:pPr>
            <a:r>
              <a:rPr lang="en-US" sz="2425" dirty="0"/>
              <a:t>Generative AI can act as an information-processing layer between healthcare data and humans.</a:t>
            </a:r>
          </a:p>
          <a:p>
            <a:pPr marL="0" indent="0">
              <a:buNone/>
            </a:pPr>
            <a:r>
              <a:rPr lang="en-US" sz="2800" dirty="0"/>
              <a:t>Important:</a:t>
            </a:r>
          </a:p>
          <a:p>
            <a:pPr marL="428625" lvl="1" indent="0">
              <a:buNone/>
            </a:pPr>
            <a:r>
              <a:rPr lang="en-US" sz="2425" dirty="0"/>
              <a:t>AI should assist healthcare professionals, not independently replace clinical judgment.</a:t>
            </a:r>
          </a:p>
          <a:p>
            <a:pPr marL="942975" lvl="1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98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102A43"/>
                </a:solidFill>
              </a:rPr>
              <a:t>Why demonstrate with </a:t>
            </a:r>
            <a:r>
              <a:rPr lang="en-US" sz="4000" b="1" dirty="0" err="1">
                <a:solidFill>
                  <a:srgbClr val="102A43"/>
                </a:solidFill>
              </a:rPr>
              <a:t>Ollama</a:t>
            </a:r>
            <a:r>
              <a:rPr lang="en-US" sz="4000" b="1" dirty="0">
                <a:solidFill>
                  <a:srgbClr val="102A43"/>
                </a:solidFill>
              </a:rPr>
              <a:t> instead of only cloud </a:t>
            </a:r>
            <a:r>
              <a:rPr lang="en-US" sz="4000" b="1" dirty="0" err="1">
                <a:solidFill>
                  <a:srgbClr val="102A43"/>
                </a:solidFill>
              </a:rPr>
              <a:t>chatbots</a:t>
            </a:r>
            <a:r>
              <a:rPr lang="en-US" sz="4000" b="1" dirty="0">
                <a:solidFill>
                  <a:srgbClr val="102A43"/>
                </a:solidFill>
              </a:rPr>
              <a:t>?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102A43"/>
                </a:solidFill>
              </a:rPr>
              <a:t>Data </a:t>
            </a:r>
            <a:r>
              <a:rPr lang="en-US" sz="2800" b="1" dirty="0" smtClean="0">
                <a:solidFill>
                  <a:srgbClr val="102A43"/>
                </a:solidFill>
              </a:rPr>
              <a:t>control</a:t>
            </a:r>
            <a:r>
              <a:rPr lang="en-US" sz="2800" b="1" dirty="0" smtClean="0"/>
              <a:t>: </a:t>
            </a:r>
            <a:r>
              <a:rPr lang="en-US" sz="2800" dirty="0" smtClean="0"/>
              <a:t>summarize</a:t>
            </a:r>
            <a:r>
              <a:rPr lang="en-US" sz="2800" dirty="0"/>
              <a:t>, explain, draft, differential reasoning </a:t>
            </a:r>
            <a:r>
              <a:rPr lang="en-US" sz="2800" dirty="0" smtClean="0"/>
              <a:t>support</a:t>
            </a:r>
          </a:p>
          <a:p>
            <a:r>
              <a:rPr lang="en-US" sz="2800" b="1" dirty="0" smtClean="0">
                <a:solidFill>
                  <a:srgbClr val="102A43"/>
                </a:solidFill>
              </a:rPr>
              <a:t>Reproducibility</a:t>
            </a:r>
            <a:r>
              <a:rPr lang="en-US" sz="2800" b="1" dirty="0" smtClean="0"/>
              <a:t>: </a:t>
            </a:r>
            <a:r>
              <a:rPr lang="en-US" sz="2800" dirty="0">
                <a:solidFill>
                  <a:srgbClr val="0B1320"/>
                </a:solidFill>
              </a:rPr>
              <a:t>Same model tag + same prompt + saved output = better auditability.</a:t>
            </a:r>
            <a:endParaRPr lang="en-US" sz="2800" dirty="0"/>
          </a:p>
          <a:p>
            <a:r>
              <a:rPr lang="en-US" sz="2800" b="1" dirty="0">
                <a:solidFill>
                  <a:srgbClr val="102A43"/>
                </a:solidFill>
              </a:rPr>
              <a:t>Cost </a:t>
            </a:r>
            <a:r>
              <a:rPr lang="en-US" sz="2800" b="1" dirty="0" smtClean="0">
                <a:solidFill>
                  <a:srgbClr val="102A43"/>
                </a:solidFill>
              </a:rPr>
              <a:t>predictability</a:t>
            </a:r>
            <a:r>
              <a:rPr lang="en-US" sz="2800" b="1" dirty="0" smtClean="0"/>
              <a:t>: </a:t>
            </a:r>
            <a:r>
              <a:rPr lang="en-US" sz="2800" dirty="0">
                <a:solidFill>
                  <a:srgbClr val="0B1320"/>
                </a:solidFill>
              </a:rPr>
              <a:t>No per-token cost during classroom </a:t>
            </a:r>
            <a:r>
              <a:rPr lang="en-US" sz="2800" dirty="0" smtClean="0">
                <a:solidFill>
                  <a:srgbClr val="0B1320"/>
                </a:solidFill>
              </a:rPr>
              <a:t>exploration</a:t>
            </a:r>
          </a:p>
          <a:p>
            <a:r>
              <a:rPr lang="en-US" sz="2800" b="1" dirty="0" smtClean="0">
                <a:solidFill>
                  <a:srgbClr val="102A43"/>
                </a:solidFill>
              </a:rPr>
              <a:t>Offline/edge research</a:t>
            </a:r>
            <a:r>
              <a:rPr lang="en-US" sz="2800" b="1" dirty="0" smtClean="0"/>
              <a:t>: </a:t>
            </a:r>
            <a:r>
              <a:rPr lang="en-US" sz="2800" dirty="0">
                <a:solidFill>
                  <a:srgbClr val="0B1320"/>
                </a:solidFill>
              </a:rPr>
              <a:t>Useful for hospitals, labs, rural health pilots, and low-connectivity settings.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lvl="1"/>
            <a:endParaRPr lang="en-US" sz="2425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24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Why </a:t>
            </a:r>
            <a:r>
              <a:rPr lang="en-US" sz="4000" dirty="0" err="1"/>
              <a:t>Ollama</a:t>
            </a:r>
            <a:r>
              <a:rPr lang="en-US" sz="4000" dirty="0"/>
              <a:t> for Healthcare Demo?</a:t>
            </a:r>
            <a:endParaRPr lang="en-IN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3" r="18317" b="10915"/>
          <a:stretch/>
        </p:blipFill>
        <p:spPr>
          <a:xfrm>
            <a:off x="6953061" y="1769823"/>
            <a:ext cx="4798337" cy="3634513"/>
          </a:xfrm>
        </p:spPr>
      </p:pic>
      <p:sp>
        <p:nvSpPr>
          <p:cNvPr id="6" name="Rectangle 5"/>
          <p:cNvSpPr/>
          <p:nvPr/>
        </p:nvSpPr>
        <p:spPr>
          <a:xfrm>
            <a:off x="327811" y="1434018"/>
            <a:ext cx="830580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Key idea: </a:t>
            </a:r>
            <a:r>
              <a:rPr lang="en-US" sz="2800" dirty="0">
                <a:solidFill>
                  <a:prstClr val="black"/>
                </a:solidFill>
              </a:rPr>
              <a:t>Run Generative AI locally</a:t>
            </a:r>
            <a:r>
              <a:rPr lang="en-US" sz="2800" dirty="0" smtClean="0">
                <a:solidFill>
                  <a:prstClr val="black"/>
                </a:solidFill>
              </a:rPr>
              <a:t>.</a:t>
            </a:r>
          </a:p>
          <a:p>
            <a:endParaRPr lang="en-US" sz="2800" dirty="0">
              <a:solidFill>
                <a:prstClr val="black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Healthcare </a:t>
            </a:r>
            <a:r>
              <a:rPr lang="en-US" sz="2400" dirty="0">
                <a:solidFill>
                  <a:prstClr val="black"/>
                </a:solidFill>
              </a:rPr>
              <a:t>data is sensitive.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Cloud </a:t>
            </a:r>
            <a:r>
              <a:rPr lang="en-US" sz="2400" dirty="0">
                <a:solidFill>
                  <a:prstClr val="black"/>
                </a:solidFill>
              </a:rPr>
              <a:t>AI may create privacy concerns.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prstClr val="black"/>
                </a:solidFill>
              </a:rPr>
              <a:t>Ollama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helps demonstrate AI on a local </a:t>
            </a:r>
            <a:endParaRPr lang="en-US" sz="2400" dirty="0" smtClean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	</a:t>
            </a:r>
            <a:r>
              <a:rPr lang="en-US" sz="2400" dirty="0" smtClean="0">
                <a:solidFill>
                  <a:prstClr val="black"/>
                </a:solidFill>
              </a:rPr>
              <a:t>machine</a:t>
            </a:r>
            <a:r>
              <a:rPr lang="en-US" sz="2400" dirty="0">
                <a:solidFill>
                  <a:prstClr val="black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Useful </a:t>
            </a:r>
            <a:r>
              <a:rPr lang="en-US" sz="2400" dirty="0">
                <a:solidFill>
                  <a:prstClr val="black"/>
                </a:solidFill>
              </a:rPr>
              <a:t>for classroom, lab, and </a:t>
            </a:r>
            <a:r>
              <a:rPr lang="en-US" sz="2400" dirty="0" smtClean="0">
                <a:solidFill>
                  <a:prstClr val="black"/>
                </a:solidFill>
              </a:rPr>
              <a:t>prototype </a:t>
            </a:r>
          </a:p>
          <a:p>
            <a:r>
              <a:rPr lang="en-US" sz="2400" dirty="0" smtClean="0">
                <a:solidFill>
                  <a:prstClr val="black"/>
                </a:solidFill>
              </a:rPr>
              <a:t>	projects</a:t>
            </a:r>
            <a:r>
              <a:rPr lang="en-US" sz="2400" dirty="0">
                <a:solidFill>
                  <a:prstClr val="black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Users </a:t>
            </a:r>
            <a:r>
              <a:rPr lang="en-US" sz="2400" dirty="0">
                <a:solidFill>
                  <a:prstClr val="black"/>
                </a:solidFill>
              </a:rPr>
              <a:t>can test models without </a:t>
            </a:r>
            <a:endParaRPr lang="en-US" sz="2400" dirty="0" smtClean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	</a:t>
            </a:r>
            <a:r>
              <a:rPr lang="en-US" sz="2400" dirty="0" smtClean="0">
                <a:solidFill>
                  <a:prstClr val="black"/>
                </a:solidFill>
              </a:rPr>
              <a:t>building </a:t>
            </a:r>
            <a:r>
              <a:rPr lang="en-US" sz="2400" dirty="0">
                <a:solidFill>
                  <a:prstClr val="black"/>
                </a:solidFill>
              </a:rPr>
              <a:t>full cloud infrastructure.</a:t>
            </a:r>
            <a:endParaRPr lang="en-US" sz="24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13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Local AI for Sensitive Healthcare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811" y="1434018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7061" y="189478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Patient records should not be casually sent to external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Local models keep data on the user’s computer.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Useful for demoing:- Clinical summaries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/>
              <a:t>Patient </a:t>
            </a:r>
            <a:r>
              <a:rPr lang="en-IN" dirty="0"/>
              <a:t>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/>
              <a:t>Medical </a:t>
            </a:r>
            <a:r>
              <a:rPr lang="en-IN" dirty="0"/>
              <a:t>document Q&amp;A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/>
              <a:t>Report </a:t>
            </a:r>
            <a:r>
              <a:rPr lang="en-IN" dirty="0"/>
              <a:t>drafting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control over data flow.</a:t>
            </a:r>
          </a:p>
        </p:txBody>
      </p:sp>
    </p:spTree>
    <p:extLst>
      <p:ext uri="{BB962C8B-B14F-4D97-AF65-F5344CB8AC3E}">
        <p14:creationId xmlns:p14="http://schemas.microsoft.com/office/powerpoint/2010/main" val="393119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AI Without Continuous Internet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811" y="1434018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7061" y="189478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model download, many </a:t>
            </a:r>
            <a:r>
              <a:rPr lang="en-US" dirty="0" err="1"/>
              <a:t>Ollama</a:t>
            </a:r>
            <a:r>
              <a:rPr lang="en-US" dirty="0"/>
              <a:t> models can run locally.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in:- 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Rural </a:t>
            </a:r>
            <a:r>
              <a:rPr lang="en-US" dirty="0"/>
              <a:t>clinics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Hospital </a:t>
            </a:r>
            <a:r>
              <a:rPr lang="en-US" dirty="0"/>
              <a:t>labs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Low-connectivity </a:t>
            </a:r>
            <a:r>
              <a:rPr lang="en-US" dirty="0"/>
              <a:t>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Reduces </a:t>
            </a:r>
            <a:r>
              <a:rPr lang="en-US" dirty="0"/>
              <a:t>dependency on paid cloud APIs.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43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6" y="148046"/>
            <a:ext cx="9739168" cy="5481194"/>
          </a:xfrm>
        </p:spPr>
      </p:pic>
    </p:spTree>
    <p:extLst>
      <p:ext uri="{BB962C8B-B14F-4D97-AF65-F5344CB8AC3E}">
        <p14:creationId xmlns:p14="http://schemas.microsoft.com/office/powerpoint/2010/main" val="40240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Choosing the Right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811" y="1434018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7061" y="189478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Ollama</a:t>
            </a:r>
            <a:r>
              <a:rPr lang="en-US" dirty="0"/>
              <a:t> supports many open models such as Llama, Mistral, Gemma, </a:t>
            </a:r>
            <a:r>
              <a:rPr lang="en-US" dirty="0" err="1"/>
              <a:t>Qwen</a:t>
            </a:r>
            <a:r>
              <a:rPr lang="en-US" dirty="0"/>
              <a:t>, Phi, and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selection depends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Hardware </a:t>
            </a:r>
            <a:r>
              <a:rPr lang="en-US" dirty="0"/>
              <a:t>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Speed </a:t>
            </a:r>
            <a:r>
              <a:rPr lang="en-US" dirty="0"/>
              <a:t>requirement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Accuracy </a:t>
            </a:r>
            <a:r>
              <a:rPr lang="en-US" dirty="0"/>
              <a:t>requirement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Language </a:t>
            </a:r>
            <a:r>
              <a:rPr lang="en-US" dirty="0"/>
              <a:t>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Context </a:t>
            </a:r>
            <a:r>
              <a:rPr lang="en-US" dirty="0"/>
              <a:t>length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Task </a:t>
            </a:r>
            <a:r>
              <a:rPr lang="en-US" dirty="0"/>
              <a:t>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3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/>
              <a:t>Continued ..</a:t>
            </a:r>
            <a:endParaRPr lang="en-IN" sz="4000" dirty="0"/>
          </a:p>
        </p:txBody>
      </p:sp>
      <p:sp>
        <p:nvSpPr>
          <p:cNvPr id="6" name="Rectangle 5"/>
          <p:cNvSpPr/>
          <p:nvPr/>
        </p:nvSpPr>
        <p:spPr>
          <a:xfrm>
            <a:off x="327811" y="1434018"/>
            <a:ext cx="8305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7061" y="18947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83793"/>
              </p:ext>
            </p:extLst>
          </p:nvPr>
        </p:nvGraphicFramePr>
        <p:xfrm>
          <a:off x="838200" y="1957238"/>
          <a:ext cx="10515600" cy="174339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26971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05922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Better model choice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840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Short patient 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Small fast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6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Long clinical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Larger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69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Medical document Q&amp;A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Model with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30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Code demo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Coding-capable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617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94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 Demo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Run a local healthcare </a:t>
            </a:r>
            <a:r>
              <a:rPr lang="en-US" dirty="0" err="1"/>
              <a:t>chatbot</a:t>
            </a:r>
            <a:r>
              <a:rPr lang="en-US" dirty="0"/>
              <a:t> using </a:t>
            </a:r>
            <a:r>
              <a:rPr lang="en-US" dirty="0" err="1"/>
              <a:t>Ollama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IN" dirty="0"/>
              <a:t>Today’s setup flow:</a:t>
            </a:r>
          </a:p>
          <a:p>
            <a:pPr marL="428625" lvl="1" indent="0">
              <a:buNone/>
            </a:pPr>
            <a:r>
              <a:rPr lang="en-IN" dirty="0"/>
              <a:t>Install </a:t>
            </a:r>
            <a:r>
              <a:rPr lang="en-IN" dirty="0" err="1"/>
              <a:t>Ollama</a:t>
            </a:r>
            <a:r>
              <a:rPr lang="en-IN" dirty="0"/>
              <a:t> → Pull Model → Run </a:t>
            </a:r>
            <a:r>
              <a:rPr lang="en-IN" dirty="0" err="1"/>
              <a:t>Chatbot</a:t>
            </a:r>
            <a:r>
              <a:rPr lang="en-IN" dirty="0"/>
              <a:t> → Test Healthcare Prompts</a:t>
            </a:r>
          </a:p>
        </p:txBody>
      </p:sp>
    </p:spTree>
    <p:extLst>
      <p:ext uri="{BB962C8B-B14F-4D97-AF65-F5344CB8AC3E}">
        <p14:creationId xmlns:p14="http://schemas.microsoft.com/office/powerpoint/2010/main" val="54260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Ollama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Windows PowerShell:</a:t>
            </a:r>
          </a:p>
          <a:p>
            <a:pPr marL="428625" lvl="1" indent="0">
              <a:buNone/>
            </a:pPr>
            <a:r>
              <a:rPr lang="en-US" dirty="0" err="1"/>
              <a:t>irm</a:t>
            </a:r>
            <a:r>
              <a:rPr lang="en-US" dirty="0"/>
              <a:t> https://ollama.com/install.ps1 | </a:t>
            </a:r>
            <a:r>
              <a:rPr lang="en-US" dirty="0" err="1"/>
              <a:t>iex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macOS</a:t>
            </a:r>
            <a:r>
              <a:rPr lang="en-US" dirty="0"/>
              <a:t> / Linux:</a:t>
            </a:r>
          </a:p>
          <a:p>
            <a:pPr marL="428625" lvl="1" indent="0">
              <a:buNone/>
            </a:pPr>
            <a:r>
              <a:rPr lang="en-US" dirty="0"/>
              <a:t>curl -</a:t>
            </a:r>
            <a:r>
              <a:rPr lang="en-US" dirty="0" err="1"/>
              <a:t>fsSL</a:t>
            </a:r>
            <a:r>
              <a:rPr lang="en-US" dirty="0"/>
              <a:t> https://ollama.com/install.sh | </a:t>
            </a:r>
            <a:r>
              <a:rPr lang="en-US" dirty="0" err="1"/>
              <a:t>sh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check:</a:t>
            </a:r>
          </a:p>
          <a:p>
            <a:pPr marL="428625" lvl="1" indent="0">
              <a:buNone/>
            </a:pPr>
            <a:r>
              <a:rPr lang="en-US" dirty="0" err="1"/>
              <a:t>ollama</a:t>
            </a:r>
            <a:r>
              <a:rPr lang="en-US" dirty="0"/>
              <a:t> --version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85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Install: </a:t>
            </a:r>
            <a:r>
              <a:rPr lang="en-US" sz="2400" i="1" dirty="0">
                <a:solidFill>
                  <a:schemeClr val="accent5">
                    <a:lumMod val="75000"/>
                  </a:schemeClr>
                </a:solidFill>
                <a:hlinkClick r:id="rId3"/>
              </a:rPr>
              <a:t>https://</a:t>
            </a:r>
            <a:r>
              <a:rPr lang="en-US" sz="2400" i="1" dirty="0" smtClean="0">
                <a:solidFill>
                  <a:schemeClr val="accent5">
                    <a:lumMod val="75000"/>
                  </a:schemeClr>
                </a:solidFill>
                <a:hlinkClick r:id="rId3"/>
              </a:rPr>
              <a:t>docs.ollama.com/quickstart</a:t>
            </a:r>
            <a:endParaRPr lang="en-US" sz="2400" i="1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400" i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4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503" y="2233278"/>
            <a:ext cx="4143292" cy="388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31" y="0"/>
            <a:ext cx="7776324" cy="495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9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Pull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Download a model:</a:t>
            </a:r>
          </a:p>
          <a:p>
            <a:pPr lvl="1"/>
            <a:r>
              <a:rPr lang="en-US" dirty="0" err="1"/>
              <a:t>ollama</a:t>
            </a:r>
            <a:r>
              <a:rPr lang="en-US" dirty="0"/>
              <a:t> run </a:t>
            </a:r>
            <a:r>
              <a:rPr lang="en-US" dirty="0" err="1"/>
              <a:t>tinyllama</a:t>
            </a:r>
            <a:endParaRPr lang="en-US" dirty="0"/>
          </a:p>
          <a:p>
            <a:endParaRPr lang="en-US" dirty="0"/>
          </a:p>
          <a:p>
            <a:r>
              <a:rPr lang="en-US" dirty="0"/>
              <a:t>Check available local models:</a:t>
            </a:r>
          </a:p>
          <a:p>
            <a:pPr lvl="1"/>
            <a:r>
              <a:rPr lang="en-US" dirty="0" err="1"/>
              <a:t>ollama</a:t>
            </a:r>
            <a:r>
              <a:rPr lang="en-US" dirty="0"/>
              <a:t> list</a:t>
            </a:r>
          </a:p>
          <a:p>
            <a:endParaRPr lang="en-US" dirty="0"/>
          </a:p>
          <a:p>
            <a:r>
              <a:rPr lang="en-US" dirty="0" smtClean="0"/>
              <a:t>select </a:t>
            </a:r>
            <a:r>
              <a:rPr lang="en-US" dirty="0"/>
              <a:t>a model based on:</a:t>
            </a:r>
          </a:p>
          <a:p>
            <a:pPr lvl="1"/>
            <a:r>
              <a:rPr lang="en-US" dirty="0" smtClean="0"/>
              <a:t>Laptop </a:t>
            </a:r>
            <a:r>
              <a:rPr lang="en-US" dirty="0"/>
              <a:t>RAM</a:t>
            </a:r>
          </a:p>
          <a:p>
            <a:pPr lvl="1"/>
            <a:r>
              <a:rPr lang="en-US" dirty="0" smtClean="0"/>
              <a:t>Speed</a:t>
            </a:r>
            <a:endParaRPr lang="en-US" dirty="0"/>
          </a:p>
          <a:p>
            <a:pPr lvl="1"/>
            <a:r>
              <a:rPr lang="en-US" dirty="0" smtClean="0"/>
              <a:t>Accuracy</a:t>
            </a:r>
            <a:endParaRPr lang="en-US" dirty="0"/>
          </a:p>
          <a:p>
            <a:pPr lvl="1"/>
            <a:r>
              <a:rPr lang="en-US" dirty="0" smtClean="0"/>
              <a:t>Language </a:t>
            </a:r>
            <a:r>
              <a:rPr lang="en-US" dirty="0"/>
              <a:t>support</a:t>
            </a:r>
          </a:p>
          <a:p>
            <a:pPr lvl="1"/>
            <a:r>
              <a:rPr lang="en-US" dirty="0" smtClean="0"/>
              <a:t>Healthcare </a:t>
            </a:r>
            <a:r>
              <a:rPr lang="en-US" dirty="0"/>
              <a:t>explanation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6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468" y="1877251"/>
            <a:ext cx="7287642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67" y="499621"/>
            <a:ext cx="8345065" cy="583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0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terminal: </a:t>
            </a:r>
            <a:r>
              <a:rPr lang="en-US" dirty="0" err="1"/>
              <a:t>ollama</a:t>
            </a:r>
            <a:r>
              <a:rPr lang="en-US" dirty="0"/>
              <a:t> </a:t>
            </a:r>
            <a:r>
              <a:rPr lang="en-US" dirty="0" smtClean="0"/>
              <a:t>run </a:t>
            </a:r>
            <a:r>
              <a:rPr lang="en-US" dirty="0" err="1" smtClean="0"/>
              <a:t>tinyllama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11523"/>
            <a:ext cx="10643647" cy="119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0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Local </a:t>
            </a:r>
            <a:r>
              <a:rPr lang="en-IN" dirty="0" err="1"/>
              <a:t>Chatbot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Test prompt:</a:t>
            </a:r>
          </a:p>
          <a:p>
            <a:pPr marL="428625" lvl="1" indent="0">
              <a:buNone/>
            </a:pPr>
            <a:r>
              <a:rPr lang="en-US" dirty="0"/>
              <a:t>Explain high blood pressure to a patient in simple language.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Healthcare safety rule:</a:t>
            </a:r>
          </a:p>
          <a:p>
            <a:pPr marL="428625" lvl="1" indent="0">
              <a:buNone/>
            </a:pPr>
            <a:r>
              <a:rPr lang="en-US" dirty="0" smtClean="0"/>
              <a:t>Do </a:t>
            </a:r>
            <a:r>
              <a:rPr lang="en-US" dirty="0"/>
              <a:t>not diagnose. Give educational information and advise consulting a qualified healthcare professional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2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720" y="-33792"/>
            <a:ext cx="12641439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2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80" y="0"/>
            <a:ext cx="7497221" cy="604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6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Demo 1: Medical Text Summarization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/>
              <a:t>Objective: Convert long clinical text into a structured summary.</a:t>
            </a:r>
          </a:p>
          <a:p>
            <a:r>
              <a:rPr lang="en-US" sz="2800" dirty="0"/>
              <a:t>Input example:</a:t>
            </a:r>
          </a:p>
          <a:p>
            <a:pPr marL="0" indent="0">
              <a:buNone/>
            </a:pPr>
            <a:r>
              <a:rPr lang="en-US" sz="2800" dirty="0" smtClean="0"/>
              <a:t>   Long </a:t>
            </a:r>
            <a:r>
              <a:rPr lang="en-US" sz="2800" dirty="0"/>
              <a:t>patient case note with symptoms, history, investigation, treatment, and advice.</a:t>
            </a:r>
          </a:p>
          <a:p>
            <a:r>
              <a:rPr lang="en-US" sz="2800" dirty="0"/>
              <a:t>Expected output:</a:t>
            </a:r>
          </a:p>
          <a:p>
            <a:pPr lvl="1"/>
            <a:r>
              <a:rPr lang="en-US" sz="2425" dirty="0" smtClean="0"/>
              <a:t>Patient </a:t>
            </a:r>
            <a:r>
              <a:rPr lang="en-US" sz="2425" dirty="0"/>
              <a:t>profile</a:t>
            </a:r>
          </a:p>
          <a:p>
            <a:pPr lvl="1"/>
            <a:r>
              <a:rPr lang="en-US" sz="2425" dirty="0" smtClean="0"/>
              <a:t>Main </a:t>
            </a:r>
            <a:r>
              <a:rPr lang="en-US" sz="2425" dirty="0"/>
              <a:t>complaints</a:t>
            </a:r>
          </a:p>
          <a:p>
            <a:pPr lvl="1"/>
            <a:r>
              <a:rPr lang="en-US" sz="2425" dirty="0" smtClean="0"/>
              <a:t>Relevant </a:t>
            </a:r>
            <a:r>
              <a:rPr lang="en-US" sz="2425" dirty="0"/>
              <a:t>history</a:t>
            </a:r>
          </a:p>
          <a:p>
            <a:pPr lvl="1"/>
            <a:r>
              <a:rPr lang="en-US" sz="2425" dirty="0" smtClean="0"/>
              <a:t>Key </a:t>
            </a:r>
            <a:r>
              <a:rPr lang="en-US" sz="2425" dirty="0"/>
              <a:t>findings</a:t>
            </a:r>
          </a:p>
          <a:p>
            <a:pPr lvl="1"/>
            <a:r>
              <a:rPr lang="en-US" sz="2425" dirty="0" smtClean="0"/>
              <a:t>Diagnosis </a:t>
            </a:r>
            <a:r>
              <a:rPr lang="en-US" sz="2425" dirty="0"/>
              <a:t>impression</a:t>
            </a:r>
          </a:p>
          <a:p>
            <a:pPr lvl="1"/>
            <a:r>
              <a:rPr lang="en-US" sz="2425" dirty="0" smtClean="0"/>
              <a:t>Treatment </a:t>
            </a:r>
            <a:r>
              <a:rPr lang="en-US" sz="2425" dirty="0"/>
              <a:t>plan</a:t>
            </a:r>
          </a:p>
          <a:p>
            <a:pPr lvl="1"/>
            <a:r>
              <a:rPr lang="en-US" sz="2425" dirty="0" smtClean="0"/>
              <a:t>Follow-up advice</a:t>
            </a:r>
          </a:p>
          <a:p>
            <a:pPr lvl="1"/>
            <a:endParaRPr lang="en-US" sz="2425" dirty="0"/>
          </a:p>
          <a:p>
            <a:r>
              <a:rPr lang="en-US" sz="2800" dirty="0"/>
              <a:t>Key idea</a:t>
            </a:r>
            <a:r>
              <a:rPr lang="en-US" sz="2800" dirty="0" smtClean="0"/>
              <a:t>: Generative </a:t>
            </a:r>
            <a:r>
              <a:rPr lang="en-US" sz="2800" dirty="0"/>
              <a:t>AI helps reduce information overload.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61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 smtClean="0"/>
              <a:t>Prompt </a:t>
            </a:r>
            <a:r>
              <a:rPr lang="en-IN" sz="4000" dirty="0"/>
              <a:t>for Structured Summary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466202"/>
            <a:ext cx="10515600" cy="40793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You are a healthcare documentation assistant.</a:t>
            </a:r>
          </a:p>
          <a:p>
            <a:pPr marL="0" indent="0">
              <a:buNone/>
            </a:pPr>
            <a:r>
              <a:rPr lang="en-US" sz="2800" dirty="0"/>
              <a:t>Summarize the following case note into a structured format: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1. Patient details</a:t>
            </a:r>
          </a:p>
          <a:p>
            <a:pPr marL="0" indent="0">
              <a:buNone/>
            </a:pPr>
            <a:r>
              <a:rPr lang="en-US" sz="2800" dirty="0"/>
              <a:t>2. Chief complaint</a:t>
            </a:r>
          </a:p>
          <a:p>
            <a:pPr marL="0" indent="0">
              <a:buNone/>
            </a:pPr>
            <a:r>
              <a:rPr lang="en-US" sz="2800" dirty="0"/>
              <a:t>3. History</a:t>
            </a:r>
          </a:p>
          <a:p>
            <a:pPr marL="0" indent="0">
              <a:buNone/>
            </a:pPr>
            <a:r>
              <a:rPr lang="en-US" sz="2800" dirty="0"/>
              <a:t>4. Examination findings</a:t>
            </a:r>
          </a:p>
          <a:p>
            <a:pPr marL="0" indent="0">
              <a:buNone/>
            </a:pPr>
            <a:r>
              <a:rPr lang="en-US" sz="2800" dirty="0"/>
              <a:t>5. Investigations</a:t>
            </a:r>
          </a:p>
          <a:p>
            <a:pPr marL="0" indent="0">
              <a:buNone/>
            </a:pPr>
            <a:r>
              <a:rPr lang="en-US" sz="2800" dirty="0"/>
              <a:t>6. Assessment</a:t>
            </a:r>
          </a:p>
          <a:p>
            <a:pPr marL="0" indent="0">
              <a:buNone/>
            </a:pPr>
            <a:r>
              <a:rPr lang="en-US" sz="2800" dirty="0"/>
              <a:t>7. Treatment plan</a:t>
            </a:r>
          </a:p>
          <a:p>
            <a:pPr marL="0" indent="0">
              <a:buNone/>
            </a:pPr>
            <a:r>
              <a:rPr lang="en-US" sz="2800" dirty="0"/>
              <a:t>8. Follow-up advice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809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174997"/>
            <a:ext cx="10515600" cy="40793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Check the AI summary </a:t>
            </a:r>
            <a:r>
              <a:rPr lang="en-US" sz="2800" dirty="0" smtClean="0"/>
              <a:t>for:</a:t>
            </a:r>
          </a:p>
          <a:p>
            <a:pPr lvl="1"/>
            <a:r>
              <a:rPr lang="en-US" sz="2425" dirty="0" smtClean="0"/>
              <a:t>Did it include all important clinical points?</a:t>
            </a:r>
          </a:p>
          <a:p>
            <a:pPr lvl="1"/>
            <a:r>
              <a:rPr lang="en-US" sz="2425" dirty="0" smtClean="0"/>
              <a:t>Did </a:t>
            </a:r>
            <a:r>
              <a:rPr lang="en-US" sz="2425" dirty="0"/>
              <a:t>it remove unnecessary details?</a:t>
            </a:r>
          </a:p>
          <a:p>
            <a:pPr lvl="1"/>
            <a:r>
              <a:rPr lang="en-US" sz="2425" dirty="0" smtClean="0"/>
              <a:t>Did </a:t>
            </a:r>
            <a:r>
              <a:rPr lang="en-US" sz="2425" dirty="0"/>
              <a:t>it invent any information?</a:t>
            </a:r>
          </a:p>
          <a:p>
            <a:pPr lvl="1"/>
            <a:r>
              <a:rPr lang="en-US" sz="2425" dirty="0" smtClean="0"/>
              <a:t>Is </a:t>
            </a:r>
            <a:r>
              <a:rPr lang="en-US" sz="2425" dirty="0"/>
              <a:t>the output structured and readable?</a:t>
            </a:r>
          </a:p>
          <a:p>
            <a:pPr lvl="1"/>
            <a:r>
              <a:rPr lang="en-US" sz="2425" dirty="0" smtClean="0"/>
              <a:t>Can </a:t>
            </a:r>
            <a:r>
              <a:rPr lang="en-US" sz="2425" dirty="0"/>
              <a:t>a doctor quickly review it?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Important </a:t>
            </a:r>
            <a:r>
              <a:rPr lang="en-US" sz="2800" dirty="0"/>
              <a:t>warning:</a:t>
            </a:r>
          </a:p>
          <a:p>
            <a:pPr marL="0" indent="0">
              <a:buNone/>
            </a:pPr>
            <a:r>
              <a:rPr lang="en-US" sz="2800" dirty="0"/>
              <a:t>AI summarization is useful, but the final summary must be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verified </a:t>
            </a:r>
            <a:r>
              <a:rPr lang="en-US" sz="2800" dirty="0"/>
              <a:t>by a healthcare professional.</a:t>
            </a:r>
          </a:p>
        </p:txBody>
      </p:sp>
    </p:spTree>
    <p:extLst>
      <p:ext uri="{BB962C8B-B14F-4D97-AF65-F5344CB8AC3E}">
        <p14:creationId xmlns:p14="http://schemas.microsoft.com/office/powerpoint/2010/main" val="20311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Patient-Friendly 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/>
              <a:t>Objective: Convert medical language into simple patient language.</a:t>
            </a:r>
          </a:p>
          <a:p>
            <a:pPr marL="0" indent="0">
              <a:buNone/>
            </a:pPr>
            <a:r>
              <a:rPr lang="en-US" sz="2800" dirty="0"/>
              <a:t>Example input:  </a:t>
            </a:r>
          </a:p>
          <a:p>
            <a:pPr marL="0" indent="0">
              <a:buNone/>
            </a:pPr>
            <a:r>
              <a:rPr lang="en-US" sz="2800" dirty="0"/>
              <a:t>The patient has hypertension and has been prescribed amlodipine.</a:t>
            </a:r>
          </a:p>
          <a:p>
            <a:pPr marL="0" indent="0">
              <a:buNone/>
            </a:pPr>
            <a:r>
              <a:rPr lang="en-US" sz="2800" dirty="0"/>
              <a:t>Explain the condition and medicine in simple language.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Expected output:</a:t>
            </a:r>
          </a:p>
          <a:p>
            <a:pPr lvl="1"/>
            <a:r>
              <a:rPr lang="en-US" sz="2425" dirty="0" smtClean="0"/>
              <a:t>What </a:t>
            </a:r>
            <a:r>
              <a:rPr lang="en-US" sz="2425" dirty="0"/>
              <a:t>the condition means</a:t>
            </a:r>
          </a:p>
          <a:p>
            <a:pPr lvl="1"/>
            <a:r>
              <a:rPr lang="en-US" sz="2425" dirty="0" smtClean="0"/>
              <a:t>Why </a:t>
            </a:r>
            <a:r>
              <a:rPr lang="en-US" sz="2425" dirty="0"/>
              <a:t>treatment is important</a:t>
            </a:r>
          </a:p>
          <a:p>
            <a:pPr lvl="1"/>
            <a:r>
              <a:rPr lang="en-US" sz="2425" dirty="0" smtClean="0"/>
              <a:t>How </a:t>
            </a:r>
            <a:r>
              <a:rPr lang="en-US" sz="2425" dirty="0"/>
              <a:t>the medicine helps</a:t>
            </a:r>
          </a:p>
          <a:p>
            <a:pPr lvl="1"/>
            <a:r>
              <a:rPr lang="en-US" sz="2425" dirty="0" smtClean="0"/>
              <a:t>Common </a:t>
            </a:r>
            <a:r>
              <a:rPr lang="en-US" sz="2425" dirty="0"/>
              <a:t>precautions</a:t>
            </a:r>
          </a:p>
          <a:p>
            <a:pPr lvl="1"/>
            <a:r>
              <a:rPr lang="en-US" sz="2425" dirty="0" smtClean="0"/>
              <a:t>When </a:t>
            </a:r>
            <a:r>
              <a:rPr lang="en-US" sz="2425" dirty="0"/>
              <a:t>to consult a </a:t>
            </a:r>
            <a:r>
              <a:rPr lang="en-US" sz="2425" dirty="0" smtClean="0"/>
              <a:t>doctor</a:t>
            </a:r>
          </a:p>
          <a:p>
            <a:pPr lvl="1"/>
            <a:endParaRPr lang="en-US" sz="2425" dirty="0"/>
          </a:p>
          <a:p>
            <a:pPr marL="0" indent="0">
              <a:buNone/>
            </a:pPr>
            <a:r>
              <a:rPr lang="en-US" sz="2800" dirty="0"/>
              <a:t>Key idea</a:t>
            </a:r>
            <a:r>
              <a:rPr lang="en-US" sz="2800" dirty="0" smtClean="0"/>
              <a:t>: AI </a:t>
            </a:r>
            <a:r>
              <a:rPr lang="en-US" sz="2800" dirty="0"/>
              <a:t>can improve patient understanding</a:t>
            </a:r>
          </a:p>
          <a:p>
            <a:pPr lvl="1"/>
            <a:endParaRPr lang="en-US" sz="2425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69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 smtClean="0"/>
              <a:t>Patient </a:t>
            </a:r>
            <a:r>
              <a:rPr lang="en-IN" sz="4000" dirty="0"/>
              <a:t>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You are a patient education assistant.</a:t>
            </a:r>
          </a:p>
          <a:p>
            <a:pPr marL="0" indent="0">
              <a:buNone/>
            </a:pPr>
            <a:r>
              <a:rPr lang="en-US" sz="2800" dirty="0"/>
              <a:t>Explain the following medical condition in simple language.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Rules:</a:t>
            </a:r>
          </a:p>
          <a:p>
            <a:pPr lvl="1"/>
            <a:r>
              <a:rPr lang="en-US" sz="2425" dirty="0" smtClean="0"/>
              <a:t>Use </a:t>
            </a:r>
            <a:r>
              <a:rPr lang="en-US" sz="2425" dirty="0"/>
              <a:t>non-technical words.</a:t>
            </a:r>
          </a:p>
          <a:p>
            <a:pPr lvl="1"/>
            <a:r>
              <a:rPr lang="en-US" sz="2425" dirty="0" smtClean="0"/>
              <a:t>Do </a:t>
            </a:r>
            <a:r>
              <a:rPr lang="en-US" sz="2425" dirty="0"/>
              <a:t>not frighten the patient.</a:t>
            </a:r>
          </a:p>
          <a:p>
            <a:pPr lvl="1"/>
            <a:r>
              <a:rPr lang="en-US" sz="2425" dirty="0" smtClean="0"/>
              <a:t>Do </a:t>
            </a:r>
            <a:r>
              <a:rPr lang="en-US" sz="2425" dirty="0"/>
              <a:t>not give a final diagnosis.</a:t>
            </a:r>
          </a:p>
          <a:p>
            <a:pPr lvl="1"/>
            <a:r>
              <a:rPr lang="en-US" sz="2425" dirty="0" smtClean="0"/>
              <a:t>Mention </a:t>
            </a:r>
            <a:r>
              <a:rPr lang="en-US" sz="2425" dirty="0"/>
              <a:t>that a doctor’s advice is most important.</a:t>
            </a:r>
          </a:p>
          <a:p>
            <a:pPr lvl="1"/>
            <a:r>
              <a:rPr lang="en-US" sz="2425" dirty="0" smtClean="0"/>
              <a:t>Use </a:t>
            </a:r>
            <a:r>
              <a:rPr lang="en-US" sz="2425" dirty="0"/>
              <a:t>short sentences.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Topic: Hypertension and amlodipine.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31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4400" b="1" dirty="0" smtClean="0">
                <a:solidFill>
                  <a:srgbClr val="102A43"/>
                </a:solidFill>
              </a:rPr>
              <a:t>Demo </a:t>
            </a:r>
            <a:r>
              <a:rPr lang="en-US" sz="4400" b="1" dirty="0">
                <a:solidFill>
                  <a:srgbClr val="102A43"/>
                </a:solidFill>
              </a:rPr>
              <a:t>— synthetic patient </a:t>
            </a:r>
            <a:r>
              <a:rPr lang="en-US" sz="4400" b="1" dirty="0" smtClean="0">
                <a:solidFill>
                  <a:srgbClr val="102A43"/>
                </a:solidFill>
              </a:rPr>
              <a:t>summarization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28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 patient case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62; Sex: Male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Complaint: fever, cough, breathlessness for 3 days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Vitals: T 38.2°C, HR 108, RR 26, SpO2 91% room air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History: diabetes, hypertension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Ask: Create a handover note for clinician review. Include uncertainties.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29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905347" y="3413156"/>
            <a:ext cx="9379390" cy="39835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ounded Rectangle 1"/>
          <p:cNvSpPr/>
          <p:nvPr/>
        </p:nvSpPr>
        <p:spPr>
          <a:xfrm>
            <a:off x="905347" y="2544024"/>
            <a:ext cx="3775295" cy="398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RAG with Medical Documents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RAG = Retrieval-Augmented Generation</a:t>
            </a:r>
          </a:p>
          <a:p>
            <a:pPr marL="0" indent="0">
              <a:buNone/>
            </a:pPr>
            <a:r>
              <a:rPr lang="en-US" sz="2800" dirty="0"/>
              <a:t>Instead of asking the model from memory:</a:t>
            </a:r>
          </a:p>
          <a:p>
            <a:pPr marL="0" indent="0">
              <a:buNone/>
            </a:pPr>
            <a:r>
              <a:rPr lang="en-US" sz="2800" dirty="0"/>
              <a:t>Question → LLM → Answer</a:t>
            </a:r>
          </a:p>
          <a:p>
            <a:pPr marL="0" indent="0">
              <a:buNone/>
            </a:pPr>
            <a:r>
              <a:rPr lang="en-US" sz="2800" dirty="0"/>
              <a:t>Use local medical documents:</a:t>
            </a:r>
          </a:p>
          <a:p>
            <a:pPr marL="0" indent="0">
              <a:buNone/>
            </a:pPr>
            <a:r>
              <a:rPr lang="en-US" sz="2800" dirty="0" smtClean="0"/>
              <a:t>Question → Search PDF/Guideline → Relevant Text → LLM → Answer</a:t>
            </a:r>
          </a:p>
          <a:p>
            <a:pPr marL="0" indent="0">
              <a:buNone/>
            </a:pPr>
            <a:r>
              <a:rPr lang="en-US" sz="2800" dirty="0" smtClean="0"/>
              <a:t>Why important?</a:t>
            </a:r>
          </a:p>
          <a:p>
            <a:pPr lvl="1"/>
            <a:r>
              <a:rPr lang="en-US" sz="2425" dirty="0" smtClean="0"/>
              <a:t>Reduces </a:t>
            </a:r>
            <a:r>
              <a:rPr lang="en-US" sz="2425" dirty="0"/>
              <a:t>hallucination</a:t>
            </a:r>
          </a:p>
          <a:p>
            <a:pPr lvl="1"/>
            <a:r>
              <a:rPr lang="en-US" sz="2425" dirty="0" smtClean="0"/>
              <a:t>Uses </a:t>
            </a:r>
            <a:r>
              <a:rPr lang="en-US" sz="2425" dirty="0"/>
              <a:t>trusted documents</a:t>
            </a:r>
          </a:p>
          <a:p>
            <a:pPr lvl="1"/>
            <a:r>
              <a:rPr lang="en-US" sz="2425" dirty="0" smtClean="0"/>
              <a:t>Supports </a:t>
            </a:r>
            <a:r>
              <a:rPr lang="en-US" sz="2425" dirty="0"/>
              <a:t>local hospital guidelines</a:t>
            </a:r>
          </a:p>
          <a:p>
            <a:pPr lvl="1"/>
            <a:r>
              <a:rPr lang="en-US" sz="2425" dirty="0" smtClean="0"/>
              <a:t>Improves </a:t>
            </a:r>
            <a:r>
              <a:rPr lang="en-US" sz="2425" dirty="0" err="1"/>
              <a:t>explainability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40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1DBB5A-3D07-2272-852B-FAC27B823651}"/>
              </a:ext>
            </a:extLst>
          </p:cNvPr>
          <p:cNvSpPr txBox="1">
            <a:spLocks/>
          </p:cNvSpPr>
          <p:nvPr/>
        </p:nvSpPr>
        <p:spPr>
          <a:xfrm>
            <a:off x="339634" y="985058"/>
            <a:ext cx="9502635" cy="5041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14313" indent="-214313" algn="l" defTabSz="857250" rtl="0" eaLnBrk="1" latinLnBrk="0" hangingPunct="1">
              <a:lnSpc>
                <a:spcPct val="90000"/>
              </a:lnSpc>
              <a:spcBef>
                <a:spcPts val="938"/>
              </a:spcBef>
              <a:buFont typeface="Arial" panose="020B0604020202020204" pitchFamily="34" charset="0"/>
              <a:buChar char="•"/>
              <a:defRPr sz="2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29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15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01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5743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8606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14688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3313" indent="-214313" algn="l" defTabSz="857250" rtl="0" eaLnBrk="1" latinLnBrk="0" hangingPunct="1">
              <a:lnSpc>
                <a:spcPct val="90000"/>
              </a:lnSpc>
              <a:spcBef>
                <a:spcPts val="469"/>
              </a:spcBef>
              <a:buFont typeface="Arial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 The 3 Core Components of RAG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1741" y="1585020"/>
            <a:ext cx="10515600" cy="40793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1. The Retrieval Component (The Searcher): When you ask a question, the system searches an external database (often a vector database) to find text snippets, documents, or data relevant to your query.</a:t>
            </a:r>
          </a:p>
          <a:p>
            <a:pPr marL="0" indent="0" algn="just">
              <a:buNone/>
            </a:pPr>
            <a:r>
              <a:rPr lang="en-US" sz="2400" dirty="0"/>
              <a:t>2. The Augmentation Component (The Context Builder): The system takes the relevant information it found and cleanly stitches it directly into your original prompt.</a:t>
            </a:r>
          </a:p>
          <a:p>
            <a:pPr marL="0" indent="0" algn="just">
              <a:buNone/>
            </a:pPr>
            <a:r>
              <a:rPr lang="en-US" sz="2400" dirty="0"/>
              <a:t>3. The Generation Component (The Writer): The LLM reads your original question plus the freshly injected context data, then writes an accurate, grounded response.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215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68514-14CA-7415-CD8A-B4C35CF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242715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2" y="366605"/>
            <a:ext cx="9195587" cy="5175267"/>
          </a:xfrm>
        </p:spPr>
      </p:pic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83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31CD41-5851-9DCE-AEAC-B87B578F5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7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1824</TotalTime>
  <Words>1164</Words>
  <Application>Microsoft Office PowerPoint</Application>
  <PresentationFormat>Custom</PresentationFormat>
  <Paragraphs>230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Content:</vt:lpstr>
      <vt:lpstr>Where generative AI fits in healthcare</vt:lpstr>
      <vt:lpstr>Why Generative AI Matters Now</vt:lpstr>
      <vt:lpstr> </vt:lpstr>
      <vt:lpstr>Why Generative AI Matters Now</vt:lpstr>
      <vt:lpstr>The challenge</vt:lpstr>
      <vt:lpstr>Why demonstrate with Ollama instead of only cloud chatbots?</vt:lpstr>
      <vt:lpstr>Why Ollama for Healthcare Demo?</vt:lpstr>
      <vt:lpstr>Local AI for Sensitive Healthcare Data</vt:lpstr>
      <vt:lpstr>AI Without Continuous Internet</vt:lpstr>
      <vt:lpstr>PowerPoint Presentation</vt:lpstr>
      <vt:lpstr>Choosing the Right Model</vt:lpstr>
      <vt:lpstr>Continued ..</vt:lpstr>
      <vt:lpstr>Hands-on Demo Setup</vt:lpstr>
      <vt:lpstr>Install Ollama</vt:lpstr>
      <vt:lpstr>Steps</vt:lpstr>
      <vt:lpstr>PowerPoint Presentation</vt:lpstr>
      <vt:lpstr>Pull a Model</vt:lpstr>
      <vt:lpstr>PowerPoint Presentation</vt:lpstr>
      <vt:lpstr> </vt:lpstr>
      <vt:lpstr>Open terminal: ollama run tinyllama</vt:lpstr>
      <vt:lpstr>Run Local Chatbot</vt:lpstr>
      <vt:lpstr> </vt:lpstr>
      <vt:lpstr>PowerPoint Presentation</vt:lpstr>
      <vt:lpstr>Demo 1: Medical Text Summarization</vt:lpstr>
      <vt:lpstr>Prompt for Structured Summary</vt:lpstr>
      <vt:lpstr> </vt:lpstr>
      <vt:lpstr>Patient-Friendly Explanation</vt:lpstr>
      <vt:lpstr>Patient Explanation</vt:lpstr>
      <vt:lpstr> Demo — synthetic patient summarization</vt:lpstr>
      <vt:lpstr>RAG with Medical Documents</vt:lpstr>
      <vt:lpstr> The 3 Core Components of RAG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Nelson  Sharma</dc:creator>
  <cp:lastModifiedBy>IITP</cp:lastModifiedBy>
  <cp:revision>466</cp:revision>
  <dcterms:created xsi:type="dcterms:W3CDTF">2023-04-28T12:49:51Z</dcterms:created>
  <dcterms:modified xsi:type="dcterms:W3CDTF">2026-10-03T10:41:37Z</dcterms:modified>
</cp:coreProperties>
</file>